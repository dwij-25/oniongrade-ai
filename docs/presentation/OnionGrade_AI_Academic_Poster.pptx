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OnionGrade AI: A Computer Vision and Deep Learning Framework for Real-Time Onion Quality Grading and AGMARK-Compliant Classification</a:t>
            </a:r>
          </a:p>
          <a:p/>
          <a:p>
            <a:r>
              <a:t>Presentation: National Seminar Academic Poster Presentation</a:t>
            </a:r>
          </a:p>
          <a:p>
            <a:r>
              <a:t>University: Gujarat Technological University – Ahmedabad</a:t>
            </a:r>
          </a:p>
          <a:p>
            <a:r>
              <a:t>Tagline: AI-Powered Research &amp; Innovation</a:t>
            </a:r>
          </a:p>
          <a:p/>
          <a:p>
            <a:r>
              <a:t>Instructions for Finishing:</a:t>
            </a:r>
          </a:p>
          <a:p>
            <a:r>
              <a:t>1. Replace [Name of Students] with the presenting student names.</a:t>
            </a:r>
          </a:p>
          <a:p>
            <a:r>
              <a:t>2. Replace [Supervisor's and Co-supervisor's Name] with supervisor details.</a:t>
            </a:r>
          </a:p>
          <a:p>
            <a:r>
              <a:t>3. Replace [Semester and Department] with your academic semester and engineering department.</a:t>
            </a:r>
          </a:p>
          <a:p>
            <a:r>
              <a:t>4. Replace Name of the Institute with your college name.</a:t>
            </a:r>
          </a:p>
          <a:p>
            <a:r>
              <a:t>5. Replace the University Logo and Institute Logo placeholder shapes with official high-resolution PNG/SVG logos.</a:t>
            </a:r>
          </a:p>
          <a:p>
            <a:r>
              <a:t>6. Dimensions: 36 inches wide by 48 inches tall (3:4 aspect ratio, standard large-format academic poster).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1508760"/>
          </a:xfrm>
          <a:prstGeom prst="rect">
            <a:avLst/>
          </a:prstGeom>
          <a:solidFill>
            <a:srgbClr val="BB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24278B"/>
                </a:solidFill>
                <a:latin typeface="Times New Roman"/>
              </a:rPr>
              <a:t>Gujarat Technological University – Ahmedabad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4800600" cy="48006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88CA0"/>
                </a:solidFill>
                <a:latin typeface="Times New Roman"/>
              </a:rPr>
              <a:t>University Logo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788CA0"/>
                </a:solidFill>
                <a:latin typeface="Times New Roman"/>
              </a:rPr>
              <a:t>[Insert GTU Logo]</a:t>
            </a:r>
          </a:p>
        </p:txBody>
      </p:sp>
      <p:sp>
        <p:nvSpPr>
          <p:cNvPr id="4" name="Oval 3"/>
          <p:cNvSpPr/>
          <p:nvPr/>
        </p:nvSpPr>
        <p:spPr>
          <a:xfrm>
            <a:off x="26746200" y="2011680"/>
            <a:ext cx="4800600" cy="48006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88CA0"/>
                </a:solidFill>
                <a:latin typeface="Times New Roman"/>
              </a:rPr>
              <a:t>Institute Logo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788CA0"/>
                </a:solidFill>
                <a:latin typeface="Times New Roman"/>
              </a:rPr>
              <a:t>[Insert College Logo]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011680"/>
            <a:ext cx="19659600" cy="1005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B0D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788CA0"/>
                </a:solidFill>
                <a:latin typeface="Times New Roman"/>
              </a:rPr>
              <a:t>[Name of Students]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3273552"/>
            <a:ext cx="19659600" cy="1005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B0D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788CA0"/>
                </a:solidFill>
                <a:latin typeface="Times New Roman"/>
              </a:rPr>
              <a:t>[Supervisor's and Co-supervisor's Name]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4535424"/>
            <a:ext cx="19659600" cy="1005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B0D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0">
                <a:solidFill>
                  <a:srgbClr val="788CA0"/>
                </a:solidFill>
                <a:latin typeface="Times New Roman"/>
              </a:rPr>
              <a:t>[Semester and Department]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797296"/>
            <a:ext cx="19659600" cy="1005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B0D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4278B"/>
                </a:solidFill>
                <a:latin typeface="Times New Roman"/>
              </a:rPr>
              <a:t>Name of the Institute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7360920"/>
            <a:ext cx="14538960" cy="941832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26464" y="7955280"/>
            <a:ext cx="164592" cy="822960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2435840" y="14218920"/>
            <a:ext cx="3474720" cy="2560320"/>
          </a:xfrm>
          <a:custGeom>
            <a:avLst/>
            <a:gdLst/>
            <a:ahLst/>
            <a:cxnLst/>
            <a:rect l="l" t="t" r="r" b="b"/>
            <a:pathLst>
              <a:path w="3474720" h="2560320">
                <a:moveTo>
                  <a:pt x="0" y="2560320"/>
                </a:moveTo>
                <a:lnTo>
                  <a:pt x="3017520" y="2560320"/>
                </a:lnTo>
                <a:lnTo>
                  <a:pt x="3057368" y="2558580"/>
                </a:lnTo>
                <a:lnTo>
                  <a:pt x="3096912" y="2553374"/>
                </a:lnTo>
                <a:lnTo>
                  <a:pt x="3135852" y="2544741"/>
                </a:lnTo>
                <a:lnTo>
                  <a:pt x="3173892" y="2532747"/>
                </a:lnTo>
                <a:lnTo>
                  <a:pt x="3210741" y="2517484"/>
                </a:lnTo>
                <a:lnTo>
                  <a:pt x="3246120" y="2499067"/>
                </a:lnTo>
                <a:lnTo>
                  <a:pt x="3279759" y="2477636"/>
                </a:lnTo>
                <a:lnTo>
                  <a:pt x="3311402" y="2453356"/>
                </a:lnTo>
                <a:lnTo>
                  <a:pt x="3340809" y="2426409"/>
                </a:lnTo>
                <a:lnTo>
                  <a:pt x="3367756" y="2397002"/>
                </a:lnTo>
                <a:lnTo>
                  <a:pt x="3392036" y="2365359"/>
                </a:lnTo>
                <a:lnTo>
                  <a:pt x="3413467" y="2331720"/>
                </a:lnTo>
                <a:lnTo>
                  <a:pt x="3431884" y="2296341"/>
                </a:lnTo>
                <a:lnTo>
                  <a:pt x="3447147" y="2259492"/>
                </a:lnTo>
                <a:lnTo>
                  <a:pt x="3459141" y="2221452"/>
                </a:lnTo>
                <a:lnTo>
                  <a:pt x="3467774" y="2182512"/>
                </a:lnTo>
                <a:lnTo>
                  <a:pt x="3472980" y="2142968"/>
                </a:lnTo>
                <a:lnTo>
                  <a:pt x="3474720" y="2103120"/>
                </a:lnTo>
                <a:lnTo>
                  <a:pt x="3474720" y="0"/>
                </a:lnTo>
                <a:lnTo>
                  <a:pt x="3310128" y="0"/>
                </a:lnTo>
                <a:lnTo>
                  <a:pt x="3310128" y="2103120"/>
                </a:lnTo>
                <a:lnTo>
                  <a:pt x="3309015" y="2128622"/>
                </a:lnTo>
                <a:lnTo>
                  <a:pt x="3305683" y="2153931"/>
                </a:lnTo>
                <a:lnTo>
                  <a:pt x="3300158" y="2178853"/>
                </a:lnTo>
                <a:lnTo>
                  <a:pt x="3292482" y="2203198"/>
                </a:lnTo>
                <a:lnTo>
                  <a:pt x="3282713" y="2226781"/>
                </a:lnTo>
                <a:lnTo>
                  <a:pt x="3270926" y="2249424"/>
                </a:lnTo>
                <a:lnTo>
                  <a:pt x="3257210" y="2270953"/>
                </a:lnTo>
                <a:lnTo>
                  <a:pt x="3241671" y="2291205"/>
                </a:lnTo>
                <a:lnTo>
                  <a:pt x="3224425" y="2310025"/>
                </a:lnTo>
                <a:lnTo>
                  <a:pt x="3205605" y="2327271"/>
                </a:lnTo>
                <a:lnTo>
                  <a:pt x="3185353" y="2342810"/>
                </a:lnTo>
                <a:lnTo>
                  <a:pt x="3163824" y="2356526"/>
                </a:lnTo>
                <a:lnTo>
                  <a:pt x="3141181" y="2368313"/>
                </a:lnTo>
                <a:lnTo>
                  <a:pt x="3117598" y="2378082"/>
                </a:lnTo>
                <a:lnTo>
                  <a:pt x="3093253" y="2385758"/>
                </a:lnTo>
                <a:lnTo>
                  <a:pt x="3068331" y="2391283"/>
                </a:lnTo>
                <a:lnTo>
                  <a:pt x="3043022" y="2394615"/>
                </a:lnTo>
                <a:lnTo>
                  <a:pt x="3017520" y="2395728"/>
                </a:lnTo>
                <a:lnTo>
                  <a:pt x="0" y="239572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7772400"/>
            <a:ext cx="13350240" cy="859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24278B"/>
                </a:solidFill>
                <a:latin typeface="Times New Roman"/>
              </a:rPr>
              <a:t>Introduction:</a:t>
            </a:r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2D3748"/>
                </a:solidFill>
                <a:latin typeface="Times New Roman"/>
              </a:rPr>
              <a:t>Onion quality grading at government procurement centres is currently performed manually, leading to inconsistent Grade A / URS classification and recurring farmer–government disputes. This project proposes OnionGrade AI, a mobile computer-vision system that photographs a lot of onions, automatically detects damage, rot, sprouting and undersizing, and instantly estimates the percentage of Grade A and URS onions in the lot — replacing subjective visual inspection with a repeatable, rule-based AI assessment that reduces human bias and improves transparency.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007840" y="7360920"/>
            <a:ext cx="14538960" cy="941832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062704" y="7955280"/>
            <a:ext cx="164592" cy="822960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8072080" y="14218920"/>
            <a:ext cx="3474720" cy="2560320"/>
          </a:xfrm>
          <a:custGeom>
            <a:avLst/>
            <a:gdLst/>
            <a:ahLst/>
            <a:cxnLst/>
            <a:rect l="l" t="t" r="r" b="b"/>
            <a:pathLst>
              <a:path w="3474720" h="2560320">
                <a:moveTo>
                  <a:pt x="0" y="2560320"/>
                </a:moveTo>
                <a:lnTo>
                  <a:pt x="3017520" y="2560320"/>
                </a:lnTo>
                <a:lnTo>
                  <a:pt x="3057368" y="2558580"/>
                </a:lnTo>
                <a:lnTo>
                  <a:pt x="3096912" y="2553374"/>
                </a:lnTo>
                <a:lnTo>
                  <a:pt x="3135852" y="2544741"/>
                </a:lnTo>
                <a:lnTo>
                  <a:pt x="3173892" y="2532747"/>
                </a:lnTo>
                <a:lnTo>
                  <a:pt x="3210741" y="2517484"/>
                </a:lnTo>
                <a:lnTo>
                  <a:pt x="3246120" y="2499067"/>
                </a:lnTo>
                <a:lnTo>
                  <a:pt x="3279759" y="2477636"/>
                </a:lnTo>
                <a:lnTo>
                  <a:pt x="3311402" y="2453356"/>
                </a:lnTo>
                <a:lnTo>
                  <a:pt x="3340809" y="2426409"/>
                </a:lnTo>
                <a:lnTo>
                  <a:pt x="3367756" y="2397002"/>
                </a:lnTo>
                <a:lnTo>
                  <a:pt x="3392036" y="2365359"/>
                </a:lnTo>
                <a:lnTo>
                  <a:pt x="3413467" y="2331720"/>
                </a:lnTo>
                <a:lnTo>
                  <a:pt x="3431884" y="2296341"/>
                </a:lnTo>
                <a:lnTo>
                  <a:pt x="3447147" y="2259492"/>
                </a:lnTo>
                <a:lnTo>
                  <a:pt x="3459141" y="2221452"/>
                </a:lnTo>
                <a:lnTo>
                  <a:pt x="3467774" y="2182512"/>
                </a:lnTo>
                <a:lnTo>
                  <a:pt x="3472980" y="2142968"/>
                </a:lnTo>
                <a:lnTo>
                  <a:pt x="3474720" y="2103120"/>
                </a:lnTo>
                <a:lnTo>
                  <a:pt x="3474720" y="0"/>
                </a:lnTo>
                <a:lnTo>
                  <a:pt x="3310128" y="0"/>
                </a:lnTo>
                <a:lnTo>
                  <a:pt x="3310128" y="2103120"/>
                </a:lnTo>
                <a:lnTo>
                  <a:pt x="3309015" y="2128622"/>
                </a:lnTo>
                <a:lnTo>
                  <a:pt x="3305683" y="2153931"/>
                </a:lnTo>
                <a:lnTo>
                  <a:pt x="3300158" y="2178853"/>
                </a:lnTo>
                <a:lnTo>
                  <a:pt x="3292482" y="2203198"/>
                </a:lnTo>
                <a:lnTo>
                  <a:pt x="3282713" y="2226781"/>
                </a:lnTo>
                <a:lnTo>
                  <a:pt x="3270926" y="2249424"/>
                </a:lnTo>
                <a:lnTo>
                  <a:pt x="3257210" y="2270953"/>
                </a:lnTo>
                <a:lnTo>
                  <a:pt x="3241671" y="2291205"/>
                </a:lnTo>
                <a:lnTo>
                  <a:pt x="3224425" y="2310025"/>
                </a:lnTo>
                <a:lnTo>
                  <a:pt x="3205605" y="2327271"/>
                </a:lnTo>
                <a:lnTo>
                  <a:pt x="3185353" y="2342810"/>
                </a:lnTo>
                <a:lnTo>
                  <a:pt x="3163824" y="2356526"/>
                </a:lnTo>
                <a:lnTo>
                  <a:pt x="3141181" y="2368313"/>
                </a:lnTo>
                <a:lnTo>
                  <a:pt x="3117598" y="2378082"/>
                </a:lnTo>
                <a:lnTo>
                  <a:pt x="3093253" y="2385758"/>
                </a:lnTo>
                <a:lnTo>
                  <a:pt x="3068331" y="2391283"/>
                </a:lnTo>
                <a:lnTo>
                  <a:pt x="3043022" y="2394615"/>
                </a:lnTo>
                <a:lnTo>
                  <a:pt x="3017520" y="2395728"/>
                </a:lnTo>
                <a:lnTo>
                  <a:pt x="0" y="239572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02200" y="7772400"/>
            <a:ext cx="1335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4278B"/>
                </a:solidFill>
                <a:latin typeface="Times New Roman"/>
              </a:rPr>
              <a:t>Block Diagram / Implementation Details: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25160" y="8686800"/>
            <a:ext cx="11704320" cy="1051560"/>
          </a:xfrm>
          <a:prstGeom prst="roundRect">
            <a:avLst>
              <a:gd name="adj" fmla="val 20000"/>
            </a:avLst>
          </a:prstGeom>
          <a:solidFill>
            <a:srgbClr val="EAF4FC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2A72"/>
                </a:solidFill>
                <a:latin typeface="Times New Roman"/>
              </a:rPr>
              <a:t>Capture (smartphone)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4071580" y="9816084"/>
            <a:ext cx="411480" cy="347472"/>
          </a:xfrm>
          <a:prstGeom prst="downArrow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425160" y="10241280"/>
            <a:ext cx="11704320" cy="1051560"/>
          </a:xfrm>
          <a:prstGeom prst="roundRect">
            <a:avLst>
              <a:gd name="adj" fmla="val 20000"/>
            </a:avLst>
          </a:prstGeom>
          <a:solidFill>
            <a:srgbClr val="EAF4FC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2A72"/>
                </a:solidFill>
                <a:latin typeface="Times New Roman"/>
              </a:rPr>
              <a:t>Segmentation (per-bulb crop)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4071580" y="11370564"/>
            <a:ext cx="411480" cy="347472"/>
          </a:xfrm>
          <a:prstGeom prst="downArrow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425160" y="11795760"/>
            <a:ext cx="11704320" cy="1051560"/>
          </a:xfrm>
          <a:prstGeom prst="roundRect">
            <a:avLst>
              <a:gd name="adj" fmla="val 20000"/>
            </a:avLst>
          </a:prstGeom>
          <a:solidFill>
            <a:srgbClr val="EAF4FC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2A72"/>
                </a:solidFill>
                <a:latin typeface="Times New Roman"/>
              </a:rPr>
              <a:t>Feature extraction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4071580" y="12925044"/>
            <a:ext cx="411480" cy="347472"/>
          </a:xfrm>
          <a:prstGeom prst="downArrow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425160" y="13350240"/>
            <a:ext cx="11704320" cy="1051560"/>
          </a:xfrm>
          <a:prstGeom prst="roundRect">
            <a:avLst>
              <a:gd name="adj" fmla="val 20000"/>
            </a:avLst>
          </a:prstGeom>
          <a:solidFill>
            <a:srgbClr val="EAF4FC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2A72"/>
                </a:solidFill>
                <a:latin typeface="Times New Roman"/>
              </a:rPr>
              <a:t>Rule engine (AGMARK table)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4071580" y="14479524"/>
            <a:ext cx="411480" cy="347472"/>
          </a:xfrm>
          <a:prstGeom prst="downArrow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425160" y="14904720"/>
            <a:ext cx="11704320" cy="1051560"/>
          </a:xfrm>
          <a:prstGeom prst="roundRect">
            <a:avLst>
              <a:gd name="adj" fmla="val 20000"/>
            </a:avLst>
          </a:prstGeom>
          <a:solidFill>
            <a:srgbClr val="EAF4FC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2A72"/>
                </a:solidFill>
                <a:latin typeface="Times New Roman"/>
              </a:rPr>
              <a:t>Instant report (% A / URS / Reject)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17236440"/>
            <a:ext cx="14538960" cy="941832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426464" y="17830800"/>
            <a:ext cx="164592" cy="822960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2435840" y="24094440"/>
            <a:ext cx="3474720" cy="2560320"/>
          </a:xfrm>
          <a:custGeom>
            <a:avLst/>
            <a:gdLst/>
            <a:ahLst/>
            <a:cxnLst/>
            <a:rect l="l" t="t" r="r" b="b"/>
            <a:pathLst>
              <a:path w="3474720" h="2560320">
                <a:moveTo>
                  <a:pt x="0" y="2560320"/>
                </a:moveTo>
                <a:lnTo>
                  <a:pt x="3017520" y="2560320"/>
                </a:lnTo>
                <a:lnTo>
                  <a:pt x="3057368" y="2558580"/>
                </a:lnTo>
                <a:lnTo>
                  <a:pt x="3096912" y="2553374"/>
                </a:lnTo>
                <a:lnTo>
                  <a:pt x="3135852" y="2544741"/>
                </a:lnTo>
                <a:lnTo>
                  <a:pt x="3173892" y="2532747"/>
                </a:lnTo>
                <a:lnTo>
                  <a:pt x="3210741" y="2517484"/>
                </a:lnTo>
                <a:lnTo>
                  <a:pt x="3246120" y="2499067"/>
                </a:lnTo>
                <a:lnTo>
                  <a:pt x="3279759" y="2477636"/>
                </a:lnTo>
                <a:lnTo>
                  <a:pt x="3311402" y="2453356"/>
                </a:lnTo>
                <a:lnTo>
                  <a:pt x="3340809" y="2426409"/>
                </a:lnTo>
                <a:lnTo>
                  <a:pt x="3367756" y="2397002"/>
                </a:lnTo>
                <a:lnTo>
                  <a:pt x="3392036" y="2365359"/>
                </a:lnTo>
                <a:lnTo>
                  <a:pt x="3413467" y="2331720"/>
                </a:lnTo>
                <a:lnTo>
                  <a:pt x="3431884" y="2296341"/>
                </a:lnTo>
                <a:lnTo>
                  <a:pt x="3447147" y="2259492"/>
                </a:lnTo>
                <a:lnTo>
                  <a:pt x="3459141" y="2221452"/>
                </a:lnTo>
                <a:lnTo>
                  <a:pt x="3467774" y="2182512"/>
                </a:lnTo>
                <a:lnTo>
                  <a:pt x="3472980" y="2142968"/>
                </a:lnTo>
                <a:lnTo>
                  <a:pt x="3474720" y="2103120"/>
                </a:lnTo>
                <a:lnTo>
                  <a:pt x="3474720" y="0"/>
                </a:lnTo>
                <a:lnTo>
                  <a:pt x="3310128" y="0"/>
                </a:lnTo>
                <a:lnTo>
                  <a:pt x="3310128" y="2103120"/>
                </a:lnTo>
                <a:lnTo>
                  <a:pt x="3309015" y="2128622"/>
                </a:lnTo>
                <a:lnTo>
                  <a:pt x="3305683" y="2153931"/>
                </a:lnTo>
                <a:lnTo>
                  <a:pt x="3300158" y="2178853"/>
                </a:lnTo>
                <a:lnTo>
                  <a:pt x="3292482" y="2203198"/>
                </a:lnTo>
                <a:lnTo>
                  <a:pt x="3282713" y="2226781"/>
                </a:lnTo>
                <a:lnTo>
                  <a:pt x="3270926" y="2249424"/>
                </a:lnTo>
                <a:lnTo>
                  <a:pt x="3257210" y="2270953"/>
                </a:lnTo>
                <a:lnTo>
                  <a:pt x="3241671" y="2291205"/>
                </a:lnTo>
                <a:lnTo>
                  <a:pt x="3224425" y="2310025"/>
                </a:lnTo>
                <a:lnTo>
                  <a:pt x="3205605" y="2327271"/>
                </a:lnTo>
                <a:lnTo>
                  <a:pt x="3185353" y="2342810"/>
                </a:lnTo>
                <a:lnTo>
                  <a:pt x="3163824" y="2356526"/>
                </a:lnTo>
                <a:lnTo>
                  <a:pt x="3141181" y="2368313"/>
                </a:lnTo>
                <a:lnTo>
                  <a:pt x="3117598" y="2378082"/>
                </a:lnTo>
                <a:lnTo>
                  <a:pt x="3093253" y="2385758"/>
                </a:lnTo>
                <a:lnTo>
                  <a:pt x="3068331" y="2391283"/>
                </a:lnTo>
                <a:lnTo>
                  <a:pt x="3043022" y="2394615"/>
                </a:lnTo>
                <a:lnTo>
                  <a:pt x="3017520" y="2395728"/>
                </a:lnTo>
                <a:lnTo>
                  <a:pt x="0" y="239572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17647920"/>
            <a:ext cx="13350240" cy="859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24278B"/>
                </a:solidFill>
                <a:latin typeface="Times New Roman"/>
              </a:rPr>
              <a:t>Literature Review / Market Survey:</a:t>
            </a:r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2D3748"/>
                </a:solidFill>
                <a:latin typeface="Times New Roman"/>
              </a:rPr>
              <a:t>A DNN classifying onions on geometric and skin-damage features achieved 91.85% accuracy (Acta Sci. Pol. Hortorum Cultus). MobileNetV2 transfer learning is validated for low-cost, on-device onion classification; DenseNet121 outperforms other CNN backbones for Indian onion variety ID (ICAR-DOGR study). Feature-adaptive anomaly detection enables identification of unseen defect types. AGMARK defines Grade A and the Under Relaxed Specification (URS) tier used in NAFED/NCCF procurement — 2026 reports confirm active farmer disputes over inconsistent grading.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07840" y="17236440"/>
            <a:ext cx="14538960" cy="941832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7062704" y="17830800"/>
            <a:ext cx="164592" cy="822960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8072080" y="24094440"/>
            <a:ext cx="3474720" cy="2560320"/>
          </a:xfrm>
          <a:custGeom>
            <a:avLst/>
            <a:gdLst/>
            <a:ahLst/>
            <a:cxnLst/>
            <a:rect l="l" t="t" r="r" b="b"/>
            <a:pathLst>
              <a:path w="3474720" h="2560320">
                <a:moveTo>
                  <a:pt x="0" y="2560320"/>
                </a:moveTo>
                <a:lnTo>
                  <a:pt x="3017520" y="2560320"/>
                </a:lnTo>
                <a:lnTo>
                  <a:pt x="3057368" y="2558580"/>
                </a:lnTo>
                <a:lnTo>
                  <a:pt x="3096912" y="2553374"/>
                </a:lnTo>
                <a:lnTo>
                  <a:pt x="3135852" y="2544741"/>
                </a:lnTo>
                <a:lnTo>
                  <a:pt x="3173892" y="2532747"/>
                </a:lnTo>
                <a:lnTo>
                  <a:pt x="3210741" y="2517484"/>
                </a:lnTo>
                <a:lnTo>
                  <a:pt x="3246120" y="2499067"/>
                </a:lnTo>
                <a:lnTo>
                  <a:pt x="3279759" y="2477636"/>
                </a:lnTo>
                <a:lnTo>
                  <a:pt x="3311402" y="2453356"/>
                </a:lnTo>
                <a:lnTo>
                  <a:pt x="3340809" y="2426409"/>
                </a:lnTo>
                <a:lnTo>
                  <a:pt x="3367756" y="2397002"/>
                </a:lnTo>
                <a:lnTo>
                  <a:pt x="3392036" y="2365359"/>
                </a:lnTo>
                <a:lnTo>
                  <a:pt x="3413467" y="2331720"/>
                </a:lnTo>
                <a:lnTo>
                  <a:pt x="3431884" y="2296341"/>
                </a:lnTo>
                <a:lnTo>
                  <a:pt x="3447147" y="2259492"/>
                </a:lnTo>
                <a:lnTo>
                  <a:pt x="3459141" y="2221452"/>
                </a:lnTo>
                <a:lnTo>
                  <a:pt x="3467774" y="2182512"/>
                </a:lnTo>
                <a:lnTo>
                  <a:pt x="3472980" y="2142968"/>
                </a:lnTo>
                <a:lnTo>
                  <a:pt x="3474720" y="2103120"/>
                </a:lnTo>
                <a:lnTo>
                  <a:pt x="3474720" y="0"/>
                </a:lnTo>
                <a:lnTo>
                  <a:pt x="3310128" y="0"/>
                </a:lnTo>
                <a:lnTo>
                  <a:pt x="3310128" y="2103120"/>
                </a:lnTo>
                <a:lnTo>
                  <a:pt x="3309015" y="2128622"/>
                </a:lnTo>
                <a:lnTo>
                  <a:pt x="3305683" y="2153931"/>
                </a:lnTo>
                <a:lnTo>
                  <a:pt x="3300158" y="2178853"/>
                </a:lnTo>
                <a:lnTo>
                  <a:pt x="3292482" y="2203198"/>
                </a:lnTo>
                <a:lnTo>
                  <a:pt x="3282713" y="2226781"/>
                </a:lnTo>
                <a:lnTo>
                  <a:pt x="3270926" y="2249424"/>
                </a:lnTo>
                <a:lnTo>
                  <a:pt x="3257210" y="2270953"/>
                </a:lnTo>
                <a:lnTo>
                  <a:pt x="3241671" y="2291205"/>
                </a:lnTo>
                <a:lnTo>
                  <a:pt x="3224425" y="2310025"/>
                </a:lnTo>
                <a:lnTo>
                  <a:pt x="3205605" y="2327271"/>
                </a:lnTo>
                <a:lnTo>
                  <a:pt x="3185353" y="2342810"/>
                </a:lnTo>
                <a:lnTo>
                  <a:pt x="3163824" y="2356526"/>
                </a:lnTo>
                <a:lnTo>
                  <a:pt x="3141181" y="2368313"/>
                </a:lnTo>
                <a:lnTo>
                  <a:pt x="3117598" y="2378082"/>
                </a:lnTo>
                <a:lnTo>
                  <a:pt x="3093253" y="2385758"/>
                </a:lnTo>
                <a:lnTo>
                  <a:pt x="3068331" y="2391283"/>
                </a:lnTo>
                <a:lnTo>
                  <a:pt x="3043022" y="2394615"/>
                </a:lnTo>
                <a:lnTo>
                  <a:pt x="3017520" y="2395728"/>
                </a:lnTo>
                <a:lnTo>
                  <a:pt x="0" y="239572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602200" y="17647920"/>
            <a:ext cx="13350240" cy="859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24278B"/>
                </a:solidFill>
                <a:latin typeface="Times New Roman"/>
              </a:rPr>
              <a:t>Test Set-up and Results:</a:t>
            </a:r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2D3748"/>
                </a:solidFill>
                <a:latin typeface="Times New Roman"/>
              </a:rPr>
              <a:t>Labelled onion images collected under varied lighting/background, benchmarked against inspector-assigned ground truth on a mid-range Android smartphone (₹8–10k class). Backbone: MobileNetV2 (on-device) + DenseNet121 (cloud verifier). Based on comparable published studies, expected performance: 90%+ accuracy, sub-2-second per-lot inference. Agreement with human inspectors measured via Cohen's kappa; false-accept and false-reject rates tracked separately.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71600" y="27111960"/>
            <a:ext cx="14538960" cy="941832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26464" y="27706320"/>
            <a:ext cx="164592" cy="822960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2435840" y="33969960"/>
            <a:ext cx="3474720" cy="2560320"/>
          </a:xfrm>
          <a:custGeom>
            <a:avLst/>
            <a:gdLst/>
            <a:ahLst/>
            <a:cxnLst/>
            <a:rect l="l" t="t" r="r" b="b"/>
            <a:pathLst>
              <a:path w="3474720" h="2560320">
                <a:moveTo>
                  <a:pt x="0" y="2560320"/>
                </a:moveTo>
                <a:lnTo>
                  <a:pt x="3017520" y="2560320"/>
                </a:lnTo>
                <a:lnTo>
                  <a:pt x="3057368" y="2558580"/>
                </a:lnTo>
                <a:lnTo>
                  <a:pt x="3096912" y="2553374"/>
                </a:lnTo>
                <a:lnTo>
                  <a:pt x="3135852" y="2544741"/>
                </a:lnTo>
                <a:lnTo>
                  <a:pt x="3173892" y="2532747"/>
                </a:lnTo>
                <a:lnTo>
                  <a:pt x="3210741" y="2517484"/>
                </a:lnTo>
                <a:lnTo>
                  <a:pt x="3246120" y="2499067"/>
                </a:lnTo>
                <a:lnTo>
                  <a:pt x="3279759" y="2477636"/>
                </a:lnTo>
                <a:lnTo>
                  <a:pt x="3311402" y="2453356"/>
                </a:lnTo>
                <a:lnTo>
                  <a:pt x="3340809" y="2426409"/>
                </a:lnTo>
                <a:lnTo>
                  <a:pt x="3367756" y="2397002"/>
                </a:lnTo>
                <a:lnTo>
                  <a:pt x="3392036" y="2365359"/>
                </a:lnTo>
                <a:lnTo>
                  <a:pt x="3413467" y="2331720"/>
                </a:lnTo>
                <a:lnTo>
                  <a:pt x="3431884" y="2296341"/>
                </a:lnTo>
                <a:lnTo>
                  <a:pt x="3447147" y="2259492"/>
                </a:lnTo>
                <a:lnTo>
                  <a:pt x="3459141" y="2221452"/>
                </a:lnTo>
                <a:lnTo>
                  <a:pt x="3467774" y="2182512"/>
                </a:lnTo>
                <a:lnTo>
                  <a:pt x="3472980" y="2142968"/>
                </a:lnTo>
                <a:lnTo>
                  <a:pt x="3474720" y="2103120"/>
                </a:lnTo>
                <a:lnTo>
                  <a:pt x="3474720" y="0"/>
                </a:lnTo>
                <a:lnTo>
                  <a:pt x="3310128" y="0"/>
                </a:lnTo>
                <a:lnTo>
                  <a:pt x="3310128" y="2103120"/>
                </a:lnTo>
                <a:lnTo>
                  <a:pt x="3309015" y="2128622"/>
                </a:lnTo>
                <a:lnTo>
                  <a:pt x="3305683" y="2153931"/>
                </a:lnTo>
                <a:lnTo>
                  <a:pt x="3300158" y="2178853"/>
                </a:lnTo>
                <a:lnTo>
                  <a:pt x="3292482" y="2203198"/>
                </a:lnTo>
                <a:lnTo>
                  <a:pt x="3282713" y="2226781"/>
                </a:lnTo>
                <a:lnTo>
                  <a:pt x="3270926" y="2249424"/>
                </a:lnTo>
                <a:lnTo>
                  <a:pt x="3257210" y="2270953"/>
                </a:lnTo>
                <a:lnTo>
                  <a:pt x="3241671" y="2291205"/>
                </a:lnTo>
                <a:lnTo>
                  <a:pt x="3224425" y="2310025"/>
                </a:lnTo>
                <a:lnTo>
                  <a:pt x="3205605" y="2327271"/>
                </a:lnTo>
                <a:lnTo>
                  <a:pt x="3185353" y="2342810"/>
                </a:lnTo>
                <a:lnTo>
                  <a:pt x="3163824" y="2356526"/>
                </a:lnTo>
                <a:lnTo>
                  <a:pt x="3141181" y="2368313"/>
                </a:lnTo>
                <a:lnTo>
                  <a:pt x="3117598" y="2378082"/>
                </a:lnTo>
                <a:lnTo>
                  <a:pt x="3093253" y="2385758"/>
                </a:lnTo>
                <a:lnTo>
                  <a:pt x="3068331" y="2391283"/>
                </a:lnTo>
                <a:lnTo>
                  <a:pt x="3043022" y="2394615"/>
                </a:lnTo>
                <a:lnTo>
                  <a:pt x="3017520" y="2395728"/>
                </a:lnTo>
                <a:lnTo>
                  <a:pt x="0" y="239572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27523440"/>
            <a:ext cx="13350240" cy="859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24278B"/>
                </a:solidFill>
                <a:latin typeface="Times New Roman"/>
              </a:rPr>
              <a:t>Methodology:</a:t>
            </a:r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2D3748"/>
                </a:solidFill>
                <a:latin typeface="Times New Roman"/>
              </a:rPr>
              <a:t>Pipeline: (1) Capture — smartphone photo of onion tray; (2) Segmentation — per-bulb contour/blob detection; (3) Feature extraction — diameter, skin gloss, dark-patch (rot) ratio, sprout presence, shape irregularity; (4) Rule-based classification — features checked against an editable, AGMARK-aligned threshold table (Grade A / URS / Reject); (5) Report generation — instant lot-level percentages plus annotated photo showing why each bulb was downgraded. Ground truth collected with ICAR-DOGR and pilot APMC centres.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007840" y="27111960"/>
            <a:ext cx="14538960" cy="9418320"/>
          </a:xfrm>
          <a:prstGeom prst="roundRect">
            <a:avLst>
              <a:gd name="adj" fmla="val 4854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7062704" y="27706320"/>
            <a:ext cx="164592" cy="822960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8072080" y="33969960"/>
            <a:ext cx="3474720" cy="2560320"/>
          </a:xfrm>
          <a:custGeom>
            <a:avLst/>
            <a:gdLst/>
            <a:ahLst/>
            <a:cxnLst/>
            <a:rect l="l" t="t" r="r" b="b"/>
            <a:pathLst>
              <a:path w="3474720" h="2560320">
                <a:moveTo>
                  <a:pt x="0" y="2560320"/>
                </a:moveTo>
                <a:lnTo>
                  <a:pt x="3017520" y="2560320"/>
                </a:lnTo>
                <a:lnTo>
                  <a:pt x="3057368" y="2558580"/>
                </a:lnTo>
                <a:lnTo>
                  <a:pt x="3096912" y="2553374"/>
                </a:lnTo>
                <a:lnTo>
                  <a:pt x="3135852" y="2544741"/>
                </a:lnTo>
                <a:lnTo>
                  <a:pt x="3173892" y="2532747"/>
                </a:lnTo>
                <a:lnTo>
                  <a:pt x="3210741" y="2517484"/>
                </a:lnTo>
                <a:lnTo>
                  <a:pt x="3246120" y="2499067"/>
                </a:lnTo>
                <a:lnTo>
                  <a:pt x="3279759" y="2477636"/>
                </a:lnTo>
                <a:lnTo>
                  <a:pt x="3311402" y="2453356"/>
                </a:lnTo>
                <a:lnTo>
                  <a:pt x="3340809" y="2426409"/>
                </a:lnTo>
                <a:lnTo>
                  <a:pt x="3367756" y="2397002"/>
                </a:lnTo>
                <a:lnTo>
                  <a:pt x="3392036" y="2365359"/>
                </a:lnTo>
                <a:lnTo>
                  <a:pt x="3413467" y="2331720"/>
                </a:lnTo>
                <a:lnTo>
                  <a:pt x="3431884" y="2296341"/>
                </a:lnTo>
                <a:lnTo>
                  <a:pt x="3447147" y="2259492"/>
                </a:lnTo>
                <a:lnTo>
                  <a:pt x="3459141" y="2221452"/>
                </a:lnTo>
                <a:lnTo>
                  <a:pt x="3467774" y="2182512"/>
                </a:lnTo>
                <a:lnTo>
                  <a:pt x="3472980" y="2142968"/>
                </a:lnTo>
                <a:lnTo>
                  <a:pt x="3474720" y="2103120"/>
                </a:lnTo>
                <a:lnTo>
                  <a:pt x="3474720" y="0"/>
                </a:lnTo>
                <a:lnTo>
                  <a:pt x="3310128" y="0"/>
                </a:lnTo>
                <a:lnTo>
                  <a:pt x="3310128" y="2103120"/>
                </a:lnTo>
                <a:lnTo>
                  <a:pt x="3309015" y="2128622"/>
                </a:lnTo>
                <a:lnTo>
                  <a:pt x="3305683" y="2153931"/>
                </a:lnTo>
                <a:lnTo>
                  <a:pt x="3300158" y="2178853"/>
                </a:lnTo>
                <a:lnTo>
                  <a:pt x="3292482" y="2203198"/>
                </a:lnTo>
                <a:lnTo>
                  <a:pt x="3282713" y="2226781"/>
                </a:lnTo>
                <a:lnTo>
                  <a:pt x="3270926" y="2249424"/>
                </a:lnTo>
                <a:lnTo>
                  <a:pt x="3257210" y="2270953"/>
                </a:lnTo>
                <a:lnTo>
                  <a:pt x="3241671" y="2291205"/>
                </a:lnTo>
                <a:lnTo>
                  <a:pt x="3224425" y="2310025"/>
                </a:lnTo>
                <a:lnTo>
                  <a:pt x="3205605" y="2327271"/>
                </a:lnTo>
                <a:lnTo>
                  <a:pt x="3185353" y="2342810"/>
                </a:lnTo>
                <a:lnTo>
                  <a:pt x="3163824" y="2356526"/>
                </a:lnTo>
                <a:lnTo>
                  <a:pt x="3141181" y="2368313"/>
                </a:lnTo>
                <a:lnTo>
                  <a:pt x="3117598" y="2378082"/>
                </a:lnTo>
                <a:lnTo>
                  <a:pt x="3093253" y="2385758"/>
                </a:lnTo>
                <a:lnTo>
                  <a:pt x="3068331" y="2391283"/>
                </a:lnTo>
                <a:lnTo>
                  <a:pt x="3043022" y="2394615"/>
                </a:lnTo>
                <a:lnTo>
                  <a:pt x="3017520" y="2395728"/>
                </a:lnTo>
                <a:lnTo>
                  <a:pt x="0" y="239572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602200" y="27523440"/>
            <a:ext cx="13350240" cy="859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1">
                <a:solidFill>
                  <a:srgbClr val="24278B"/>
                </a:solidFill>
                <a:latin typeface="Times New Roman"/>
              </a:rPr>
              <a:t>Conclusions / Summary and Future Work with Acknowledgment:</a:t>
            </a:r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2D3748"/>
                </a:solidFill>
                <a:latin typeface="Times New Roman"/>
              </a:rPr>
              <a:t>OnionGrade AI shows a smartphone-based computer vision pipeline can replace subjective manual onion grading with a fast, explainable, auditable process — directly addressing recent NAFED/NCCF procurement disputes. Future work: hybrid edge-cloud architecture with an immutable audit trail, and federated learning so the model adapts to regional onion varieties without centralising farmer data. Acknowledgment: ICAR-Directorate of Onion &amp; Garlic Research (ICAR-DOGR) and partner APMC centres for domain guidance.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0" y="37033200"/>
            <a:ext cx="30175200" cy="475488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22225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426464" y="37627560"/>
            <a:ext cx="164592" cy="3566160"/>
          </a:xfrm>
          <a:prstGeom prst="roundRect">
            <a:avLst>
              <a:gd name="adj" fmla="val 50000"/>
            </a:avLst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6974800" y="39959280"/>
            <a:ext cx="4572000" cy="1828800"/>
          </a:xfrm>
          <a:custGeom>
            <a:avLst/>
            <a:gdLst/>
            <a:ahLst/>
            <a:cxnLst/>
            <a:rect l="l" t="t" r="r" b="b"/>
            <a:pathLst>
              <a:path w="4572000" h="1828800">
                <a:moveTo>
                  <a:pt x="0" y="1828800"/>
                </a:moveTo>
                <a:lnTo>
                  <a:pt x="4114800" y="1828800"/>
                </a:lnTo>
                <a:lnTo>
                  <a:pt x="4154648" y="1827060"/>
                </a:lnTo>
                <a:lnTo>
                  <a:pt x="4194192" y="1821854"/>
                </a:lnTo>
                <a:lnTo>
                  <a:pt x="4233132" y="1813221"/>
                </a:lnTo>
                <a:lnTo>
                  <a:pt x="4271172" y="1801227"/>
                </a:lnTo>
                <a:lnTo>
                  <a:pt x="4308021" y="1785964"/>
                </a:lnTo>
                <a:lnTo>
                  <a:pt x="4343400" y="1767547"/>
                </a:lnTo>
                <a:lnTo>
                  <a:pt x="4377039" y="1746116"/>
                </a:lnTo>
                <a:lnTo>
                  <a:pt x="4408682" y="1721836"/>
                </a:lnTo>
                <a:lnTo>
                  <a:pt x="4438089" y="1694889"/>
                </a:lnTo>
                <a:lnTo>
                  <a:pt x="4465036" y="1665482"/>
                </a:lnTo>
                <a:lnTo>
                  <a:pt x="4489316" y="1633839"/>
                </a:lnTo>
                <a:lnTo>
                  <a:pt x="4510747" y="1600200"/>
                </a:lnTo>
                <a:lnTo>
                  <a:pt x="4529164" y="1564821"/>
                </a:lnTo>
                <a:lnTo>
                  <a:pt x="4544427" y="1527972"/>
                </a:lnTo>
                <a:lnTo>
                  <a:pt x="4556421" y="1489932"/>
                </a:lnTo>
                <a:lnTo>
                  <a:pt x="4565054" y="1450992"/>
                </a:lnTo>
                <a:lnTo>
                  <a:pt x="4570260" y="1411448"/>
                </a:lnTo>
                <a:lnTo>
                  <a:pt x="4572000" y="1371600"/>
                </a:lnTo>
                <a:lnTo>
                  <a:pt x="4572000" y="0"/>
                </a:lnTo>
                <a:lnTo>
                  <a:pt x="4407408" y="0"/>
                </a:lnTo>
                <a:lnTo>
                  <a:pt x="4407408" y="1371600"/>
                </a:lnTo>
                <a:lnTo>
                  <a:pt x="4406295" y="1397102"/>
                </a:lnTo>
                <a:lnTo>
                  <a:pt x="4402963" y="1422411"/>
                </a:lnTo>
                <a:lnTo>
                  <a:pt x="4397438" y="1447333"/>
                </a:lnTo>
                <a:lnTo>
                  <a:pt x="4389762" y="1471678"/>
                </a:lnTo>
                <a:lnTo>
                  <a:pt x="4379993" y="1495261"/>
                </a:lnTo>
                <a:lnTo>
                  <a:pt x="4368206" y="1517904"/>
                </a:lnTo>
                <a:lnTo>
                  <a:pt x="4354490" y="1539433"/>
                </a:lnTo>
                <a:lnTo>
                  <a:pt x="4338951" y="1559685"/>
                </a:lnTo>
                <a:lnTo>
                  <a:pt x="4321705" y="1578505"/>
                </a:lnTo>
                <a:lnTo>
                  <a:pt x="4302885" y="1595751"/>
                </a:lnTo>
                <a:lnTo>
                  <a:pt x="4282633" y="1611290"/>
                </a:lnTo>
                <a:lnTo>
                  <a:pt x="4261104" y="1625006"/>
                </a:lnTo>
                <a:lnTo>
                  <a:pt x="4238461" y="1636793"/>
                </a:lnTo>
                <a:lnTo>
                  <a:pt x="4214878" y="1646562"/>
                </a:lnTo>
                <a:lnTo>
                  <a:pt x="4190533" y="1654238"/>
                </a:lnTo>
                <a:lnTo>
                  <a:pt x="4165611" y="1659763"/>
                </a:lnTo>
                <a:lnTo>
                  <a:pt x="4140302" y="1663095"/>
                </a:lnTo>
                <a:lnTo>
                  <a:pt x="4114800" y="1664208"/>
                </a:lnTo>
                <a:lnTo>
                  <a:pt x="0" y="1664208"/>
                </a:lnTo>
                <a:close/>
              </a:path>
            </a:pathLst>
          </a:cu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5960" y="37353240"/>
            <a:ext cx="2898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4278B"/>
                </a:solidFill>
                <a:latin typeface="Times New Roman"/>
              </a:rPr>
              <a:t>References: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37993320"/>
            <a:ext cx="1408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24278B"/>
                </a:solidFill>
                <a:latin typeface="Times New Roman"/>
              </a:rPr>
              <a:t>1. </a:t>
            </a:r>
            <a:r>
              <a:rPr sz="1450">
                <a:solidFill>
                  <a:srgbClr val="2D3748"/>
                </a:solidFill>
                <a:latin typeface="Times New Roman"/>
              </a:rPr>
              <a:t>Author(s), "Development and application of a model for automatic evaluation and classification of onions using a DNN," Acta Sci. Pol. Hortorum Cultus, pp. xx-xx, 2023.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24278B"/>
                </a:solidFill>
                <a:latin typeface="Times New Roman"/>
              </a:rPr>
              <a:t>2. </a:t>
            </a:r>
            <a:r>
              <a:rPr sz="1450">
                <a:solidFill>
                  <a:srgbClr val="2D3748"/>
                </a:solidFill>
                <a:latin typeface="Times New Roman"/>
              </a:rPr>
              <a:t>Author(s), "Image-based identification of onion varieties using deep learning techniques," Vegetable Science, pp. xx-xx, 2024.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24278B"/>
                </a:solidFill>
                <a:latin typeface="Times New Roman"/>
              </a:rPr>
              <a:t>3. </a:t>
            </a:r>
            <a:r>
              <a:rPr sz="1450">
                <a:solidFill>
                  <a:srgbClr val="2D3748"/>
                </a:solidFill>
                <a:latin typeface="Times New Roman"/>
              </a:rPr>
              <a:t>Author(s), "Onion Image Classification Based on Transfer Learning with MobileNetV2," ResearchGate, 2026.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779240" y="37993320"/>
            <a:ext cx="1408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24278B"/>
                </a:solidFill>
                <a:latin typeface="Times New Roman"/>
              </a:rPr>
              <a:t>4. </a:t>
            </a:r>
            <a:r>
              <a:rPr sz="1450">
                <a:solidFill>
                  <a:srgbClr val="2D3748"/>
                </a:solidFill>
                <a:latin typeface="Times New Roman"/>
              </a:rPr>
              <a:t>Author(s), "Feature-adaptive anomaly detection model for onion inspection system," ScienceDirect, pp. xx-xx, 2025.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24278B"/>
                </a:solidFill>
                <a:latin typeface="Times New Roman"/>
              </a:rPr>
              <a:t>5. </a:t>
            </a:r>
            <a:r>
              <a:rPr sz="1450">
                <a:solidFill>
                  <a:srgbClr val="2D3748"/>
                </a:solidFill>
                <a:latin typeface="Times New Roman"/>
              </a:rPr>
              <a:t>Directorate of Marketing &amp; Inspection, "AGMARK Grades and Standards," Govt. of India, 2019.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50" b="1">
                <a:solidFill>
                  <a:srgbClr val="24278B"/>
                </a:solidFill>
                <a:latin typeface="Times New Roman"/>
              </a:rPr>
              <a:t>6. </a:t>
            </a:r>
            <a:r>
              <a:rPr sz="1450">
                <a:solidFill>
                  <a:srgbClr val="2D3748"/>
                </a:solidFill>
                <a:latin typeface="Times New Roman"/>
              </a:rPr>
              <a:t>Free Press Journal, "Nashik: Farmers Allege Quality Onion Rejections in NAFED Procurement, Demand Transparent Grading System," June 2026.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2382440"/>
            <a:ext cx="32918400" cy="1508760"/>
          </a:xfrm>
          <a:prstGeom prst="rect">
            <a:avLst/>
          </a:prstGeom>
          <a:solidFill>
            <a:srgbClr val="BB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4278B"/>
                </a:solidFill>
                <a:latin typeface="Times New Roman"/>
              </a:rPr>
              <a:t>AI-Powered Research &amp;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OnionGrade AI: A Computer Vision and Deep Learning Framework for Real-Time Onion Quality Grading and AGMARK-Compliant Classification</dc:title>
  <dc:subject>National Seminar Academic Poster Presentation</dc:subject>
  <dc:creator>Gujarat Technological University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